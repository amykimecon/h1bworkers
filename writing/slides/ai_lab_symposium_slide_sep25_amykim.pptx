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011625" y="232825"/>
            <a:ext cx="1890300" cy="12180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Administrative H-1B Lottery data</a:t>
            </a:r>
            <a:endParaRPr b="1" sz="12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000">
                <a:solidFill>
                  <a:srgbClr val="073763"/>
                </a:solidFill>
                <a:latin typeface="Verdana"/>
                <a:ea typeface="Verdana"/>
                <a:cs typeface="Verdana"/>
                <a:sym typeface="Verdana"/>
              </a:rPr>
              <a:t>(1.8m obs of employer, country of birth, year of birth, gender)</a:t>
            </a:r>
            <a:endParaRPr sz="1000">
              <a:solidFill>
                <a:srgbClr val="07376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7086575" y="232825"/>
            <a:ext cx="1890300" cy="1218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rPr>
              <a:t>Scraped LinkedIn profile data</a:t>
            </a:r>
            <a:endParaRPr b="1" sz="1200">
              <a:solidFill>
                <a:srgbClr val="99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000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rPr>
              <a:t>(894m obs of raw text of name, job &amp; education history)</a:t>
            </a:r>
            <a:endParaRPr sz="1000">
              <a:solidFill>
                <a:srgbClr val="99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5764925" y="3174025"/>
            <a:ext cx="2417700" cy="48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Verdana"/>
                <a:ea typeface="Verdana"/>
                <a:cs typeface="Verdana"/>
                <a:sym typeface="Verdana"/>
              </a:rPr>
              <a:t>Merged dataset for analysis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5076125" y="4202725"/>
            <a:ext cx="3795300" cy="6858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Causal Estimate: </a:t>
            </a:r>
            <a:r>
              <a:rPr b="1" lang="en" sz="12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What are the labor market effects of winning an H-1B visa?</a:t>
            </a:r>
            <a:endParaRPr b="1" sz="12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8" name="Google Shape;58;p13"/>
          <p:cNvCxnSpPr>
            <a:endCxn id="56" idx="0"/>
          </p:cNvCxnSpPr>
          <p:nvPr/>
        </p:nvCxnSpPr>
        <p:spPr>
          <a:xfrm flipH="1" rot="-5400000">
            <a:off x="5605925" y="1806175"/>
            <a:ext cx="1723200" cy="1012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" name="Google Shape;59;p13"/>
          <p:cNvCxnSpPr>
            <a:endCxn id="56" idx="0"/>
          </p:cNvCxnSpPr>
          <p:nvPr/>
        </p:nvCxnSpPr>
        <p:spPr>
          <a:xfrm rot="5400000">
            <a:off x="6647675" y="1767925"/>
            <a:ext cx="1732200" cy="1080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" name="Google Shape;60;p13"/>
          <p:cNvSpPr/>
          <p:nvPr/>
        </p:nvSpPr>
        <p:spPr>
          <a:xfrm>
            <a:off x="5797775" y="2013425"/>
            <a:ext cx="2352000" cy="373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Entity Resolution </a:t>
            </a:r>
            <a:endParaRPr b="1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61" name="Google Shape;61;p13"/>
          <p:cNvCxnSpPr>
            <a:stCxn id="56" idx="2"/>
            <a:endCxn id="57" idx="0"/>
          </p:cNvCxnSpPr>
          <p:nvPr/>
        </p:nvCxnSpPr>
        <p:spPr>
          <a:xfrm>
            <a:off x="6973775" y="3662725"/>
            <a:ext cx="0" cy="54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" name="Google Shape;62;p13"/>
          <p:cNvSpPr txBox="1"/>
          <p:nvPr/>
        </p:nvSpPr>
        <p:spPr>
          <a:xfrm>
            <a:off x="281375" y="1389075"/>
            <a:ext cx="4658400" cy="3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Challenge: </a:t>
            </a:r>
            <a:endParaRPr b="1"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Linking individuals in </a:t>
            </a:r>
            <a:r>
              <a:rPr b="1" lang="en" sz="1500">
                <a:solidFill>
                  <a:srgbClr val="1C4587"/>
                </a:solidFill>
                <a:latin typeface="Verdana"/>
                <a:ea typeface="Verdana"/>
                <a:cs typeface="Verdana"/>
                <a:sym typeface="Verdana"/>
              </a:rPr>
              <a:t>administrative data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(limited identifying information) to </a:t>
            </a:r>
            <a:r>
              <a:rPr b="1"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1" lang="en" sz="1500">
                <a:solidFill>
                  <a:srgbClr val="990000"/>
                </a:solidFill>
                <a:latin typeface="Verdana"/>
                <a:ea typeface="Verdana"/>
                <a:cs typeface="Verdana"/>
                <a:sym typeface="Verdana"/>
              </a:rPr>
              <a:t>outcomes data</a:t>
            </a:r>
            <a:r>
              <a:rPr b="1"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(noisy &amp; high-dimensional)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Solution: </a:t>
            </a:r>
            <a:endParaRPr b="1"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ML/NLP-based inference + probabilistic linkage → new approach to </a:t>
            </a:r>
            <a:r>
              <a:rPr b="1" lang="en" sz="15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entity resolution</a:t>
            </a:r>
            <a:endParaRPr sz="1500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Goal: </a:t>
            </a:r>
            <a:endParaRPr b="1"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Policy-relevant </a:t>
            </a:r>
            <a:r>
              <a:rPr b="1" lang="en" sz="15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causal estimates</a:t>
            </a:r>
            <a:r>
              <a:rPr lang="en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of the impact of immigration policies on individuals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81375" y="232825"/>
            <a:ext cx="3490500" cy="9015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AI and Record Linkage: </a:t>
            </a:r>
            <a:endParaRPr b="1">
              <a:solidFill>
                <a:srgbClr val="666666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Studying Skilled Migration</a:t>
            </a:r>
            <a:endParaRPr b="1">
              <a:solidFill>
                <a:srgbClr val="666666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Amy Kim, Department of Economics</a:t>
            </a:r>
            <a:endParaRPr>
              <a:solidFill>
                <a:srgbClr val="666666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